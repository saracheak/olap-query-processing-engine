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Old Standard TT"/>
      <p:regular r:id="rId17"/>
      <p:bold r:id="rId18"/>
      <p:italic r:id="rId19"/>
    </p:embeddedFon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11" Type="http://schemas.openxmlformats.org/officeDocument/2006/relationships/slide" Target="slides/slide6.xml"/><Relationship Id="rId22" Type="http://schemas.openxmlformats.org/officeDocument/2006/relationships/font" Target="fonts/RobotoMono-italic.fntdata"/><Relationship Id="rId10" Type="http://schemas.openxmlformats.org/officeDocument/2006/relationships/slide" Target="slides/slide5.xml"/><Relationship Id="rId21" Type="http://schemas.openxmlformats.org/officeDocument/2006/relationships/font" Target="fonts/RobotoMon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Mon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OldStandardTT-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OldStandardTT-italic.fntdata"/><Relationship Id="rId6" Type="http://schemas.openxmlformats.org/officeDocument/2006/relationships/slide" Target="slides/slide1.xml"/><Relationship Id="rId18" Type="http://schemas.openxmlformats.org/officeDocument/2006/relationships/font" Target="fonts/OldStandardT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engine.py" TargetMode="External"/><Relationship Id="rId3" Type="http://schemas.openxmlformats.org/officeDocument/2006/relationships/hyperlink" Target="http://output.py" TargetMode="External"/><Relationship Id="rId4" Type="http://schemas.openxmlformats.org/officeDocument/2006/relationships/hyperlink" Target="http://output.py"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analysis is key to making business decisions in any </a:t>
            </a:r>
            <a:r>
              <a:rPr lang="en"/>
              <a:t>field. Time is also money, which is why it’s even more important to be able to sort through and analyze data as efficiently and quickly as possible. Ad Hoc OLAP queries are a big part of performing complex analysis on large datasets, helping businesses make data-driven decisions in real time, which is why we’ve </a:t>
            </a:r>
            <a:r>
              <a:rPr lang="en"/>
              <a:t>created Quoptimized - an OLAP query processing engine that improves the inefficiencies of implementing normal SQL queries.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Today we’ll go over how Quoptimized is different </a:t>
            </a:r>
            <a:r>
              <a:rPr lang="en">
                <a:solidFill>
                  <a:schemeClr val="dk1"/>
                </a:solidFill>
              </a:rPr>
              <a:t>from </a:t>
            </a:r>
            <a:r>
              <a:rPr lang="en">
                <a:solidFill>
                  <a:schemeClr val="dk1"/>
                </a:solidFill>
              </a:rPr>
              <a:t>traditional query processing approaches </a:t>
            </a:r>
            <a:r>
              <a:rPr lang="en"/>
              <a:t>by making complex query implementation more efficient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9aa6de484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9aa6de484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da1d82dbb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dda1d82dbb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aa6de484d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aa6de484d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Old Standard TT"/>
              <a:ea typeface="Old Standard TT"/>
              <a:cs typeface="Old Standard TT"/>
              <a:sym typeface="Old Standard TT"/>
            </a:endParaRPr>
          </a:p>
          <a:p>
            <a:pPr indent="-298450" lvl="0" marL="457200" rtl="0" algn="l">
              <a:lnSpc>
                <a:spcPct val="115000"/>
              </a:lnSpc>
              <a:spcBef>
                <a:spcPts val="1200"/>
              </a:spcBef>
              <a:spcAft>
                <a:spcPts val="0"/>
              </a:spcAft>
              <a:buClr>
                <a:schemeClr val="dk1"/>
              </a:buClr>
              <a:buSzPts val="1100"/>
              <a:buFont typeface="Old Standard TT"/>
              <a:buChar char="●"/>
            </a:pPr>
            <a:r>
              <a:rPr lang="en">
                <a:solidFill>
                  <a:schemeClr val="dk1"/>
                </a:solidFill>
                <a:latin typeface="Old Standard TT"/>
                <a:ea typeface="Old Standard TT"/>
                <a:cs typeface="Old Standard TT"/>
                <a:sym typeface="Old Standard TT"/>
              </a:rPr>
              <a:t>Additional joins, correlated subqueries, repeated group-bys</a:t>
            </a:r>
            <a:endParaRPr>
              <a:solidFill>
                <a:schemeClr val="dk1"/>
              </a:solidFill>
              <a:latin typeface="Old Standard TT"/>
              <a:ea typeface="Old Standard TT"/>
              <a:cs typeface="Old Standard TT"/>
              <a:sym typeface="Old Standard TT"/>
            </a:endParaRPr>
          </a:p>
          <a:p>
            <a:pPr indent="-298450" lvl="0" marL="457200" rtl="0" algn="l">
              <a:lnSpc>
                <a:spcPct val="115000"/>
              </a:lnSpc>
              <a:spcBef>
                <a:spcPts val="0"/>
              </a:spcBef>
              <a:spcAft>
                <a:spcPts val="0"/>
              </a:spcAft>
              <a:buClr>
                <a:schemeClr val="dk1"/>
              </a:buClr>
              <a:buSzPts val="1100"/>
              <a:buFont typeface="Old Standard TT"/>
              <a:buChar char="●"/>
            </a:pPr>
            <a:r>
              <a:rPr lang="en">
                <a:solidFill>
                  <a:schemeClr val="dk1"/>
                </a:solidFill>
                <a:latin typeface="Old Standard TT"/>
                <a:ea typeface="Old Standard TT"/>
                <a:cs typeface="Old Standard TT"/>
                <a:sym typeface="Old Standard TT"/>
              </a:rPr>
              <a:t>Redundancy</a:t>
            </a:r>
            <a:endParaRPr>
              <a:solidFill>
                <a:schemeClr val="dk1"/>
              </a:solidFill>
              <a:latin typeface="Old Standard TT"/>
              <a:ea typeface="Old Standard TT"/>
              <a:cs typeface="Old Standard TT"/>
              <a:sym typeface="Old Standard TT"/>
            </a:endParaRPr>
          </a:p>
          <a:p>
            <a:pPr indent="-298450" lvl="1" marL="914400" rtl="0" algn="l">
              <a:lnSpc>
                <a:spcPct val="115000"/>
              </a:lnSpc>
              <a:spcBef>
                <a:spcPts val="0"/>
              </a:spcBef>
              <a:spcAft>
                <a:spcPts val="0"/>
              </a:spcAft>
              <a:buClr>
                <a:schemeClr val="dk1"/>
              </a:buClr>
              <a:buSzPts val="1100"/>
              <a:buFont typeface="Old Standard TT"/>
              <a:buChar char="○"/>
            </a:pPr>
            <a:r>
              <a:rPr lang="en">
                <a:solidFill>
                  <a:schemeClr val="dk1"/>
                </a:solidFill>
                <a:latin typeface="Old Standard TT"/>
                <a:ea typeface="Old Standard TT"/>
                <a:cs typeface="Old Standard TT"/>
                <a:sym typeface="Old Standard TT"/>
              </a:rPr>
              <a:t>Difficult to write, understand and maintain these queries</a:t>
            </a:r>
            <a:endParaRPr>
              <a:solidFill>
                <a:schemeClr val="dk1"/>
              </a:solidFill>
              <a:latin typeface="Old Standard TT"/>
              <a:ea typeface="Old Standard TT"/>
              <a:cs typeface="Old Standard TT"/>
              <a:sym typeface="Old Standard TT"/>
            </a:endParaRPr>
          </a:p>
          <a:p>
            <a:pPr indent="-298450" lvl="1" marL="914400" rtl="0" algn="l">
              <a:lnSpc>
                <a:spcPct val="115000"/>
              </a:lnSpc>
              <a:spcBef>
                <a:spcPts val="0"/>
              </a:spcBef>
              <a:spcAft>
                <a:spcPts val="0"/>
              </a:spcAft>
              <a:buClr>
                <a:schemeClr val="dk1"/>
              </a:buClr>
              <a:buSzPts val="1100"/>
              <a:buFont typeface="Old Standard TT"/>
              <a:buChar char="○"/>
            </a:pPr>
            <a:r>
              <a:rPr lang="en">
                <a:solidFill>
                  <a:schemeClr val="dk1"/>
                </a:solidFill>
                <a:latin typeface="Old Standard TT"/>
                <a:ea typeface="Old Standard TT"/>
                <a:cs typeface="Old Standard TT"/>
                <a:sym typeface="Old Standard TT"/>
              </a:rPr>
              <a:t>Difficult for query optimizer to identify efficient algorithms</a:t>
            </a:r>
            <a:endParaRPr>
              <a:solidFill>
                <a:schemeClr val="dk1"/>
              </a:solidFill>
              <a:latin typeface="Old Standard TT"/>
              <a:ea typeface="Old Standard TT"/>
              <a:cs typeface="Old Standard TT"/>
              <a:sym typeface="Old Standard TT"/>
            </a:endParaRPr>
          </a:p>
          <a:p>
            <a:pPr indent="-298450" lvl="0" marL="457200" rtl="0" algn="l">
              <a:lnSpc>
                <a:spcPct val="115000"/>
              </a:lnSpc>
              <a:spcBef>
                <a:spcPts val="0"/>
              </a:spcBef>
              <a:spcAft>
                <a:spcPts val="0"/>
              </a:spcAft>
              <a:buClr>
                <a:schemeClr val="dk1"/>
              </a:buClr>
              <a:buSzPts val="1100"/>
              <a:buFont typeface="Old Standard TT"/>
              <a:buChar char="●"/>
            </a:pPr>
            <a:r>
              <a:rPr lang="en">
                <a:solidFill>
                  <a:schemeClr val="dk1"/>
                </a:solidFill>
                <a:latin typeface="Old Standard TT"/>
                <a:ea typeface="Old Standard TT"/>
                <a:cs typeface="Old Standard TT"/>
                <a:sym typeface="Old Standard TT"/>
              </a:rPr>
              <a:t>Standard SQL can’t efficiently handle multi-layered data aggregation</a:t>
            </a:r>
            <a:endParaRPr>
              <a:solidFill>
                <a:schemeClr val="dk1"/>
              </a:solidFill>
              <a:latin typeface="Old Standard TT"/>
              <a:ea typeface="Old Standard TT"/>
              <a:cs typeface="Old Standard TT"/>
              <a:sym typeface="Old Standard TT"/>
            </a:endParaRPr>
          </a:p>
          <a:p>
            <a:pPr indent="-298450" lvl="0" marL="457200" rtl="0" algn="l">
              <a:lnSpc>
                <a:spcPct val="115000"/>
              </a:lnSpc>
              <a:spcBef>
                <a:spcPts val="0"/>
              </a:spcBef>
              <a:spcAft>
                <a:spcPts val="0"/>
              </a:spcAft>
              <a:buClr>
                <a:schemeClr val="dk1"/>
              </a:buClr>
              <a:buSzPts val="1100"/>
              <a:buFont typeface="Old Standard TT"/>
              <a:buChar char="●"/>
            </a:pPr>
            <a:r>
              <a:rPr lang="en">
                <a:solidFill>
                  <a:schemeClr val="dk1"/>
                </a:solidFill>
                <a:latin typeface="Old Standard TT"/>
                <a:ea typeface="Old Standard TT"/>
                <a:cs typeface="Old Standard TT"/>
                <a:sym typeface="Old Standard TT"/>
              </a:rPr>
              <a:t>Joins the same table to itself multiple times to create “with” and “views” which is inefficient</a:t>
            </a:r>
            <a:endParaRPr>
              <a:solidFill>
                <a:schemeClr val="dk1"/>
              </a:solidFill>
              <a:latin typeface="Old Standard TT"/>
              <a:ea typeface="Old Standard TT"/>
              <a:cs typeface="Old Standard TT"/>
              <a:sym typeface="Old Standard TT"/>
            </a:endParaRPr>
          </a:p>
          <a:p>
            <a:pPr indent="-298450" lvl="0" marL="457200" rtl="0" algn="l">
              <a:lnSpc>
                <a:spcPct val="115000"/>
              </a:lnSpc>
              <a:spcBef>
                <a:spcPts val="0"/>
              </a:spcBef>
              <a:spcAft>
                <a:spcPts val="0"/>
              </a:spcAft>
              <a:buClr>
                <a:schemeClr val="dk1"/>
              </a:buClr>
              <a:buSzPts val="1100"/>
              <a:buFont typeface="Old Standard TT"/>
              <a:buChar char="●"/>
            </a:pPr>
            <a:r>
              <a:rPr lang="en">
                <a:solidFill>
                  <a:schemeClr val="dk1"/>
                </a:solidFill>
                <a:latin typeface="Old Standard TT"/>
                <a:ea typeface="Old Standard TT"/>
                <a:cs typeface="Old Standard TT"/>
                <a:sym typeface="Old Standard TT"/>
              </a:rPr>
              <a:t>This inefficiency increases makes query analysis slower and increases costs since queries take longer to execute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da1d82dbb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da1d82dbb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Old Standard TT"/>
              <a:buChar char="●"/>
            </a:pPr>
            <a:r>
              <a:rPr b="1" lang="en">
                <a:solidFill>
                  <a:schemeClr val="dk1"/>
                </a:solidFill>
                <a:latin typeface="Old Standard TT"/>
                <a:ea typeface="Old Standard TT"/>
                <a:cs typeface="Old Standard TT"/>
                <a:sym typeface="Old Standard TT"/>
              </a:rPr>
              <a:t>More efficiently</a:t>
            </a:r>
            <a:r>
              <a:rPr lang="en">
                <a:solidFill>
                  <a:schemeClr val="dk1"/>
                </a:solidFill>
                <a:latin typeface="Old Standard TT"/>
                <a:ea typeface="Old Standard TT"/>
                <a:cs typeface="Old Standard TT"/>
                <a:sym typeface="Old Standard TT"/>
              </a:rPr>
              <a:t> handles complex queries and large databases than engines that only use traditional SQL</a:t>
            </a:r>
            <a:endParaRPr>
              <a:solidFill>
                <a:schemeClr val="dk1"/>
              </a:solidFill>
              <a:latin typeface="Old Standard TT"/>
              <a:ea typeface="Old Standard TT"/>
              <a:cs typeface="Old Standard TT"/>
              <a:sym typeface="Old Standard TT"/>
            </a:endParaRPr>
          </a:p>
          <a:p>
            <a:pPr indent="-298450" lvl="0" marL="457200" rtl="0" algn="l">
              <a:lnSpc>
                <a:spcPct val="115000"/>
              </a:lnSpc>
              <a:spcBef>
                <a:spcPts val="0"/>
              </a:spcBef>
              <a:spcAft>
                <a:spcPts val="0"/>
              </a:spcAft>
              <a:buClr>
                <a:schemeClr val="dk1"/>
              </a:buClr>
              <a:buSzPts val="1100"/>
              <a:buFont typeface="Old Standard TT"/>
              <a:buChar char="●"/>
            </a:pPr>
            <a:r>
              <a:rPr b="1" lang="en">
                <a:solidFill>
                  <a:schemeClr val="dk1"/>
                </a:solidFill>
                <a:latin typeface="Old Standard TT"/>
                <a:ea typeface="Old Standard TT"/>
                <a:cs typeface="Old Standard TT"/>
                <a:sym typeface="Old Standard TT"/>
              </a:rPr>
              <a:t>Streamlines data analysis </a:t>
            </a:r>
            <a:r>
              <a:rPr lang="en">
                <a:solidFill>
                  <a:schemeClr val="dk1"/>
                </a:solidFill>
                <a:latin typeface="Old Standard TT"/>
                <a:ea typeface="Old Standard TT"/>
                <a:cs typeface="Old Standard TT"/>
                <a:sym typeface="Old Standard TT"/>
              </a:rPr>
              <a:t>for businesses</a:t>
            </a:r>
            <a:endParaRPr>
              <a:solidFill>
                <a:schemeClr val="dk1"/>
              </a:solidFill>
              <a:latin typeface="Old Standard TT"/>
              <a:ea typeface="Old Standard TT"/>
              <a:cs typeface="Old Standard TT"/>
              <a:sym typeface="Old Standard TT"/>
            </a:endParaRPr>
          </a:p>
          <a:p>
            <a:pPr indent="-298450" lvl="0" marL="457200" rtl="0" algn="l">
              <a:lnSpc>
                <a:spcPct val="115000"/>
              </a:lnSpc>
              <a:spcBef>
                <a:spcPts val="0"/>
              </a:spcBef>
              <a:spcAft>
                <a:spcPts val="0"/>
              </a:spcAft>
              <a:buClr>
                <a:schemeClr val="dk1"/>
              </a:buClr>
              <a:buSzPts val="1100"/>
              <a:buFont typeface="Old Standard TT"/>
              <a:buChar char="●"/>
            </a:pPr>
            <a:r>
              <a:rPr b="1" lang="en">
                <a:solidFill>
                  <a:schemeClr val="dk1"/>
                </a:solidFill>
                <a:latin typeface="Old Standard TT"/>
                <a:ea typeface="Old Standard TT"/>
                <a:cs typeface="Old Standard TT"/>
                <a:sym typeface="Old Standard TT"/>
              </a:rPr>
              <a:t>Saves money </a:t>
            </a:r>
            <a:r>
              <a:rPr lang="en">
                <a:solidFill>
                  <a:schemeClr val="dk1"/>
                </a:solidFill>
                <a:latin typeface="Old Standard TT"/>
                <a:ea typeface="Old Standard TT"/>
                <a:cs typeface="Old Standard TT"/>
                <a:sym typeface="Old Standard TT"/>
              </a:rPr>
              <a:t>through the improvement of queries</a:t>
            </a:r>
            <a:endParaRPr>
              <a:solidFill>
                <a:schemeClr val="dk1"/>
              </a:solidFill>
              <a:latin typeface="Old Standard TT"/>
              <a:ea typeface="Old Standard TT"/>
              <a:cs typeface="Old Standard TT"/>
              <a:sym typeface="Old Standard TT"/>
            </a:endParaRPr>
          </a:p>
          <a:p>
            <a:pPr indent="-298450" lvl="0" marL="457200" rtl="0" algn="l">
              <a:lnSpc>
                <a:spcPct val="115000"/>
              </a:lnSpc>
              <a:spcBef>
                <a:spcPts val="0"/>
              </a:spcBef>
              <a:spcAft>
                <a:spcPts val="0"/>
              </a:spcAft>
              <a:buClr>
                <a:schemeClr val="dk1"/>
              </a:buClr>
              <a:buSzPts val="1100"/>
              <a:buFont typeface="Old Standard TT"/>
              <a:buChar char="●"/>
            </a:pPr>
            <a:r>
              <a:rPr b="1" lang="en">
                <a:solidFill>
                  <a:schemeClr val="dk1"/>
                </a:solidFill>
                <a:latin typeface="Old Standard TT"/>
                <a:ea typeface="Old Standard TT"/>
                <a:cs typeface="Old Standard TT"/>
                <a:sym typeface="Old Standard TT"/>
              </a:rPr>
              <a:t>Easily analyze </a:t>
            </a:r>
            <a:r>
              <a:rPr lang="en">
                <a:solidFill>
                  <a:schemeClr val="dk1"/>
                </a:solidFill>
                <a:latin typeface="Old Standard TT"/>
                <a:ea typeface="Old Standard TT"/>
                <a:cs typeface="Old Standard TT"/>
                <a:sym typeface="Old Standard TT"/>
              </a:rPr>
              <a:t>complex data through the use of Phi operator and grouping variables </a:t>
            </a:r>
            <a:endParaRPr>
              <a:solidFill>
                <a:schemeClr val="dk1"/>
              </a:solidFill>
              <a:latin typeface="Old Standard TT"/>
              <a:ea typeface="Old Standard TT"/>
              <a:cs typeface="Old Standard TT"/>
              <a:sym typeface="Old Standard TT"/>
            </a:endParaRPr>
          </a:p>
          <a:p>
            <a:pPr indent="-298450" lvl="0" marL="457200" rtl="0" algn="l">
              <a:lnSpc>
                <a:spcPct val="115000"/>
              </a:lnSpc>
              <a:spcBef>
                <a:spcPts val="0"/>
              </a:spcBef>
              <a:spcAft>
                <a:spcPts val="0"/>
              </a:spcAft>
              <a:buClr>
                <a:schemeClr val="dk1"/>
              </a:buClr>
              <a:buSzPts val="1100"/>
              <a:buFont typeface="Old Standard TT"/>
              <a:buChar char="●"/>
            </a:pPr>
            <a:r>
              <a:rPr lang="en">
                <a:solidFill>
                  <a:schemeClr val="dk1"/>
                </a:solidFill>
                <a:latin typeface="Old Standard TT"/>
                <a:ea typeface="Old Standard TT"/>
                <a:cs typeface="Old Standard TT"/>
                <a:sym typeface="Old Standard TT"/>
              </a:rPr>
              <a:t>Reduce number of scans</a:t>
            </a:r>
            <a:endParaRPr>
              <a:solidFill>
                <a:schemeClr val="dk1"/>
              </a:solidFill>
              <a:latin typeface="Old Standard TT"/>
              <a:ea typeface="Old Standard TT"/>
              <a:cs typeface="Old Standard TT"/>
              <a:sym typeface="Old Standard TT"/>
            </a:endParaRPr>
          </a:p>
          <a:p>
            <a:pPr indent="-298450" lvl="0" marL="457200" rtl="0" algn="l">
              <a:lnSpc>
                <a:spcPct val="115000"/>
              </a:lnSpc>
              <a:spcBef>
                <a:spcPts val="0"/>
              </a:spcBef>
              <a:spcAft>
                <a:spcPts val="0"/>
              </a:spcAft>
              <a:buClr>
                <a:schemeClr val="dk1"/>
              </a:buClr>
              <a:buSzPts val="1100"/>
              <a:buFont typeface="Old Standard TT"/>
              <a:buChar char="●"/>
            </a:pPr>
            <a:r>
              <a:rPr lang="en">
                <a:solidFill>
                  <a:schemeClr val="dk1"/>
                </a:solidFill>
                <a:latin typeface="Old Standard TT"/>
                <a:ea typeface="Old Standard TT"/>
                <a:cs typeface="Old Standard TT"/>
                <a:sym typeface="Old Standard TT"/>
              </a:rPr>
              <a:t>No intermediate tables</a:t>
            </a:r>
            <a:endParaRPr>
              <a:solidFill>
                <a:schemeClr val="dk1"/>
              </a:solidFill>
              <a:latin typeface="Old Standard TT"/>
              <a:ea typeface="Old Standard TT"/>
              <a:cs typeface="Old Standard TT"/>
              <a:sym typeface="Old Standard TT"/>
            </a:endParaRPr>
          </a:p>
          <a:p>
            <a:pPr indent="-342900" lvl="0" marL="457200" rtl="0" algn="l">
              <a:lnSpc>
                <a:spcPct val="115000"/>
              </a:lnSpc>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Easier to read, write, maintain these queries</a:t>
            </a:r>
            <a:endParaRPr sz="1800">
              <a:solidFill>
                <a:schemeClr val="dk1"/>
              </a:solidFill>
              <a:latin typeface="Old Standard TT"/>
              <a:ea typeface="Old Standard TT"/>
              <a:cs typeface="Old Standard TT"/>
              <a:sym typeface="Old Standard TT"/>
            </a:endParaRPr>
          </a:p>
          <a:p>
            <a:pPr indent="-342900" lvl="0" marL="457200" rtl="0" algn="l">
              <a:lnSpc>
                <a:spcPct val="115000"/>
              </a:lnSpc>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Easier for query optimizer to identify efficient algorithms</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a:solidFill>
                  <a:schemeClr val="dk1"/>
                </a:solidFill>
              </a:rPr>
              <a:t>Additionally Quoptimized supports two different kind of grouping analysis through multi feature queries and extended multi feature queries. Multi feature queries enable analysis within a group and extended multi feature queries enable analysis within and outside a group</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da1d82dbb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da1d82dbb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Traditional SQL requires multiple “with” and “view” statements to analyze different groups of data altogether. Through our use of the phi operator and </a:t>
            </a:r>
            <a:r>
              <a:rPr lang="en"/>
              <a:t>grouping</a:t>
            </a:r>
            <a:r>
              <a:rPr lang="en"/>
              <a:t> variables we arrange data into </a:t>
            </a:r>
            <a:r>
              <a:rPr lang="en"/>
              <a:t>groups</a:t>
            </a:r>
            <a:r>
              <a:rPr lang="en"/>
              <a:t> that streamline the analysis process..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da1d82dbb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dda1d82dbb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architecture overview will help explain how Quoptimized works.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2"/>
              </a:rPr>
              <a:t>Engine.py</a:t>
            </a:r>
            <a:r>
              <a:rPr lang="en"/>
              <a:t> is the entry point to the program. It prompts the user for input either as a file or via the command line. The Query Parser acts as a validator. It cleans the input and then parses it into a dictionary of Phi parameters. The code generation step dynamically generates the output query code to </a:t>
            </a:r>
            <a:r>
              <a:rPr lang="en" u="sng">
                <a:solidFill>
                  <a:schemeClr val="hlink"/>
                </a:solidFill>
                <a:hlinkClick r:id="rId3"/>
              </a:rPr>
              <a:t>output.py</a:t>
            </a:r>
            <a:r>
              <a:rPr lang="en"/>
              <a:t>. It connects to the database and defines a custom MFStruct class tailored for that query, before generating the code for each of the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Once </a:t>
            </a:r>
            <a:r>
              <a:rPr lang="en" u="sng">
                <a:solidFill>
                  <a:schemeClr val="hlink"/>
                </a:solidFill>
                <a:hlinkClick r:id="rId4"/>
              </a:rPr>
              <a:t>output.py</a:t>
            </a:r>
            <a:r>
              <a:rPr lang="en"/>
              <a:t> is executed, it first scans the database to create the groups based on the grouping attributes. It retrieves the entire dataset and identifies all unique combinations of the grouping attributes. For each unique group, it instantiates an MFStruct object and stores it in a </a:t>
            </a:r>
            <a:r>
              <a:rPr lang="en"/>
              <a:t>dictionary</a:t>
            </a:r>
            <a:r>
              <a:rPr lang="en"/>
              <a:t>. Each element in the dictionary is a “row” in the </a:t>
            </a:r>
            <a:r>
              <a:rPr lang="en"/>
              <a:t>output table.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once we have all the unique groups, </a:t>
            </a:r>
            <a:r>
              <a:rPr lang="en">
                <a:solidFill>
                  <a:schemeClr val="dk1"/>
                </a:solidFill>
              </a:rPr>
              <a:t>for each grouping variable, </a:t>
            </a:r>
            <a:r>
              <a:rPr lang="en"/>
              <a:t>the program will rescan the database and update the aggregates and then evaluate the predicates for each row. It updates the corresponding aggregate fields within the MFStruct object.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if the query has average or HAVING clause conditions, we </a:t>
            </a:r>
            <a:r>
              <a:rPr lang="en"/>
              <a:t>calculate that and</a:t>
            </a:r>
            <a:r>
              <a:rPr lang="en"/>
              <a:t> </a:t>
            </a:r>
            <a:r>
              <a:rPr lang="en"/>
              <a:t>filter</a:t>
            </a:r>
            <a:r>
              <a:rPr lang="en"/>
              <a:t> the results.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final step, the output table is displayed in the terminal.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aa1924853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9aa1924853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Sara</a:t>
            </a:r>
            <a:endParaRPr sz="1800">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sz="1400">
                <a:solidFill>
                  <a:schemeClr val="dk1"/>
                </a:solidFill>
                <a:latin typeface="Old Standard TT"/>
                <a:ea typeface="Old Standard TT"/>
                <a:cs typeface="Old Standard TT"/>
                <a:sym typeface="Old Standard TT"/>
              </a:rPr>
              <a:t>Designed overall program architecture including the HelperFunction and Generator Framework</a:t>
            </a:r>
            <a:endParaRPr sz="1400">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sz="1400">
                <a:solidFill>
                  <a:schemeClr val="dk1"/>
                </a:solidFill>
                <a:latin typeface="Old Standard TT"/>
                <a:ea typeface="Old Standard TT"/>
                <a:cs typeface="Old Standard TT"/>
                <a:sym typeface="Old Standard TT"/>
              </a:rPr>
              <a:t>Implemented MF structure generation</a:t>
            </a:r>
            <a:endParaRPr sz="1400">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sz="1400">
                <a:solidFill>
                  <a:schemeClr val="dk1"/>
                </a:solidFill>
                <a:latin typeface="Old Standard TT"/>
                <a:ea typeface="Old Standard TT"/>
                <a:cs typeface="Old Standard TT"/>
                <a:sym typeface="Old Standard TT"/>
              </a:rPr>
              <a:t>Implemented HAVING clause logic </a:t>
            </a:r>
            <a:endParaRPr sz="1400">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sz="1400">
                <a:solidFill>
                  <a:schemeClr val="dk1"/>
                </a:solidFill>
                <a:latin typeface="Old Standard TT"/>
                <a:ea typeface="Old Standard TT"/>
                <a:cs typeface="Old Standard TT"/>
                <a:sym typeface="Old Standard TT"/>
              </a:rPr>
              <a:t>Built Phi parameter parsing from user input</a:t>
            </a:r>
            <a:endParaRPr sz="1400">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sz="1400">
                <a:solidFill>
                  <a:schemeClr val="dk1"/>
                </a:solidFill>
                <a:latin typeface="Old Standard TT"/>
                <a:ea typeface="Old Standard TT"/>
                <a:cs typeface="Old Standard TT"/>
                <a:sym typeface="Old Standard TT"/>
              </a:rPr>
              <a:t>Developed multi-condition support for each variable in the predicate processing</a:t>
            </a:r>
            <a:endParaRPr sz="1400">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sz="1400">
                <a:solidFill>
                  <a:schemeClr val="dk1"/>
                </a:solidFill>
                <a:latin typeface="Old Standard TT"/>
                <a:ea typeface="Old Standard TT"/>
                <a:cs typeface="Old Standard TT"/>
                <a:sym typeface="Old Standard TT"/>
              </a:rPr>
              <a:t>Created MF/EMF test cases</a:t>
            </a:r>
            <a:endParaRPr sz="1400">
              <a:solidFill>
                <a:schemeClr val="dk1"/>
              </a:solidFill>
              <a:latin typeface="Old Standard TT"/>
              <a:ea typeface="Old Standard TT"/>
              <a:cs typeface="Old Standard TT"/>
              <a:sym typeface="Old Standard TT"/>
            </a:endParaRPr>
          </a:p>
          <a:p>
            <a:pPr indent="-342900" lvl="0" marL="457200" rtl="0" algn="l">
              <a:lnSpc>
                <a:spcPct val="115000"/>
              </a:lnSpc>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Shasha:</a:t>
            </a:r>
            <a:endParaRPr sz="1800">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sz="1400">
                <a:solidFill>
                  <a:schemeClr val="dk1"/>
                </a:solidFill>
                <a:latin typeface="Old Standard TT"/>
                <a:ea typeface="Old Standard TT"/>
                <a:cs typeface="Old Standard TT"/>
                <a:sym typeface="Old Standard TT"/>
              </a:rPr>
              <a:t>Implemented user input validation (except for G)</a:t>
            </a:r>
            <a:endParaRPr sz="1400">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sz="1400">
                <a:solidFill>
                  <a:schemeClr val="dk1"/>
                </a:solidFill>
                <a:latin typeface="Old Standard TT"/>
                <a:ea typeface="Old Standard TT"/>
                <a:cs typeface="Old Standard TT"/>
                <a:sym typeface="Old Standard TT"/>
              </a:rPr>
              <a:t>Developed aggregate calculator logic </a:t>
            </a:r>
            <a:endParaRPr sz="1400">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sz="1400">
                <a:solidFill>
                  <a:schemeClr val="dk1"/>
                </a:solidFill>
                <a:latin typeface="Old Standard TT"/>
                <a:ea typeface="Old Standard TT"/>
                <a:cs typeface="Old Standard TT"/>
                <a:sym typeface="Old Standard TT"/>
              </a:rPr>
              <a:t>Implemented group creation logic </a:t>
            </a:r>
            <a:endParaRPr sz="1400">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sz="1400">
                <a:solidFill>
                  <a:schemeClr val="dk1"/>
                </a:solidFill>
                <a:latin typeface="Old Standard TT"/>
                <a:ea typeface="Old Standard TT"/>
                <a:cs typeface="Old Standard TT"/>
                <a:sym typeface="Old Standard TT"/>
              </a:rPr>
              <a:t>Built initial predicate handling for 1 variable (without and or or)</a:t>
            </a:r>
            <a:endParaRPr sz="1400">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sz="1400">
                <a:solidFill>
                  <a:schemeClr val="dk1"/>
                </a:solidFill>
                <a:latin typeface="Old Standard TT"/>
                <a:ea typeface="Old Standard TT"/>
                <a:cs typeface="Old Standard TT"/>
                <a:sym typeface="Old Standard TT"/>
              </a:rPr>
              <a:t>Developed output table generation</a:t>
            </a:r>
            <a:endParaRPr sz="1400">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sz="1400">
                <a:solidFill>
                  <a:schemeClr val="dk1"/>
                </a:solidFill>
                <a:latin typeface="Old Standard TT"/>
                <a:ea typeface="Old Standard TT"/>
                <a:cs typeface="Old Standard TT"/>
                <a:sym typeface="Old Standard TT"/>
              </a:rPr>
              <a:t>Implemented aggregate parsing logic </a:t>
            </a:r>
            <a:endParaRPr sz="1400">
              <a:solidFill>
                <a:schemeClr val="dk1"/>
              </a:solidFill>
              <a:latin typeface="Old Standard TT"/>
              <a:ea typeface="Old Standard TT"/>
              <a:cs typeface="Old Standard TT"/>
              <a:sym typeface="Old Standard TT"/>
            </a:endParaRPr>
          </a:p>
          <a:p>
            <a:pPr indent="-317500" lvl="1" marL="914400" rtl="0" algn="l">
              <a:lnSpc>
                <a:spcPct val="115000"/>
              </a:lnSpc>
              <a:spcBef>
                <a:spcPts val="0"/>
              </a:spcBef>
              <a:spcAft>
                <a:spcPts val="0"/>
              </a:spcAft>
              <a:buClr>
                <a:schemeClr val="dk1"/>
              </a:buClr>
              <a:buSzPts val="1400"/>
              <a:buFont typeface="Old Standard TT"/>
              <a:buChar char="○"/>
            </a:pPr>
            <a:r>
              <a:rPr lang="en" sz="1400">
                <a:solidFill>
                  <a:schemeClr val="dk1"/>
                </a:solidFill>
                <a:latin typeface="Old Standard TT"/>
                <a:ea typeface="Old Standard TT"/>
                <a:cs typeface="Old Standard TT"/>
                <a:sym typeface="Old Standard TT"/>
              </a:rPr>
              <a:t>Created MF/EMF test cases</a:t>
            </a:r>
            <a:endParaRPr sz="1400">
              <a:solidFill>
                <a:schemeClr val="dk1"/>
              </a:solidFill>
              <a:latin typeface="Old Standard TT"/>
              <a:ea typeface="Old Standard TT"/>
              <a:cs typeface="Old Standard TT"/>
              <a:sym typeface="Old Standard T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dda1d82dbb_0_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dda1d82dbb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 Defines projected attributes for output as                                                              comma-separated values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 Specifies the number of grouping variables as a                                                   single integer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V: Lists grouping attributes as                                                                                    comma-separated values</a:t>
            </a:r>
            <a:endParaRPr>
              <a:solidFill>
                <a:schemeClr val="dk1"/>
              </a:solidFill>
            </a:endParaRPr>
          </a:p>
          <a:p>
            <a:pPr indent="0" lvl="0" marL="0" rtl="0" algn="l">
              <a:spcBef>
                <a:spcPts val="0"/>
              </a:spcBef>
              <a:spcAft>
                <a:spcPts val="0"/>
              </a:spcAft>
              <a:buNone/>
            </a:pPr>
            <a:r>
              <a:rPr lang="en">
                <a:solidFill>
                  <a:schemeClr val="dk1"/>
                </a:solidFill>
              </a:rPr>
              <a:t>[F]: Sets of aggregate functions for each grouping variable as                                  comma-separated values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[σ]: Predicates defining the range for each grouping variable with each variable      on a new line</a:t>
            </a:r>
            <a:endParaRPr>
              <a:solidFill>
                <a:schemeClr val="dk1"/>
              </a:solidFill>
            </a:endParaRPr>
          </a:p>
          <a:p>
            <a:pPr indent="0" lvl="0" marL="0" rtl="0" algn="l">
              <a:spcBef>
                <a:spcPts val="0"/>
              </a:spcBef>
              <a:spcAft>
                <a:spcPts val="0"/>
              </a:spcAft>
              <a:buNone/>
            </a:pPr>
            <a:r>
              <a:rPr lang="en">
                <a:solidFill>
                  <a:schemeClr val="dk1"/>
                </a:solidFill>
              </a:rPr>
              <a:t>G: Predicate for the having clause as a                                                                     string</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having condition has been left empty for this particular query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Simple techstack makes it easier and cheaper to maintain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Python3 - Flexibility makes it easy to dynamically create code customized to the user inputs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PostgreSQL - Stores the SQL table the user will be analyzing. In our case it stores the sales.sql table used to demonstrate the query engine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Psycog2 - Establishes the connection with the PostgreSQL database</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dda1d82dbb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dda1d82dbb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da1d82dbb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da1d82dbb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430200" y="1893300"/>
            <a:ext cx="8283600" cy="1522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Quoptimized: </a:t>
            </a:r>
            <a:endParaRPr/>
          </a:p>
          <a:p>
            <a:pPr indent="0" lvl="0" marL="0" rtl="0" algn="ctr">
              <a:spcBef>
                <a:spcPts val="0"/>
              </a:spcBef>
              <a:spcAft>
                <a:spcPts val="0"/>
              </a:spcAft>
              <a:buNone/>
            </a:pPr>
            <a:r>
              <a:rPr lang="en"/>
              <a:t>A More Efficient </a:t>
            </a:r>
            <a:r>
              <a:rPr lang="en"/>
              <a:t>SQL </a:t>
            </a:r>
            <a:r>
              <a:rPr lang="en"/>
              <a:t>Query Processor</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Team QuaHackettes (Ravisara C. &amp; Shasha 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a:t>
            </a:r>
            <a:endParaRPr/>
          </a:p>
          <a:p>
            <a:pPr indent="0" lvl="0" marL="0" rtl="0" algn="l">
              <a:spcBef>
                <a:spcPts val="0"/>
              </a:spcBef>
              <a:spcAft>
                <a:spcPts val="0"/>
              </a:spcAft>
              <a:buNone/>
            </a:pPr>
            <a:r>
              <a:t/>
            </a:r>
            <a:endParaRPr/>
          </a:p>
        </p:txBody>
      </p:sp>
      <p:sp>
        <p:nvSpPr>
          <p:cNvPr id="66" name="Google Shape;66;p1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Motivation</a:t>
            </a:r>
            <a:endParaRPr/>
          </a:p>
          <a:p>
            <a:pPr indent="-342900" lvl="0" marL="457200" rtl="0" algn="l">
              <a:spcBef>
                <a:spcPts val="0"/>
              </a:spcBef>
              <a:spcAft>
                <a:spcPts val="0"/>
              </a:spcAft>
              <a:buSzPts val="1800"/>
              <a:buAutoNum type="arabicPeriod"/>
            </a:pPr>
            <a:r>
              <a:rPr lang="en"/>
              <a:t>Extended SQL Solution</a:t>
            </a:r>
            <a:endParaRPr/>
          </a:p>
          <a:p>
            <a:pPr indent="-342900" lvl="0" marL="457200" rtl="0" algn="l">
              <a:spcBef>
                <a:spcPts val="0"/>
              </a:spcBef>
              <a:spcAft>
                <a:spcPts val="0"/>
              </a:spcAft>
              <a:buSzPts val="1800"/>
              <a:buAutoNum type="arabicPeriod"/>
            </a:pPr>
            <a:r>
              <a:rPr lang="en"/>
              <a:t>Architecture of Program </a:t>
            </a:r>
            <a:endParaRPr/>
          </a:p>
          <a:p>
            <a:pPr indent="-342900" lvl="0" marL="457200" rtl="0" algn="l">
              <a:spcBef>
                <a:spcPts val="0"/>
              </a:spcBef>
              <a:spcAft>
                <a:spcPts val="0"/>
              </a:spcAft>
              <a:buSzPts val="1800"/>
              <a:buAutoNum type="arabicPeriod"/>
            </a:pPr>
            <a:r>
              <a:rPr lang="en"/>
              <a:t>Work Distribution</a:t>
            </a:r>
            <a:endParaRPr/>
          </a:p>
          <a:p>
            <a:pPr indent="-342900" lvl="0" marL="457200" rtl="0" algn="l">
              <a:spcBef>
                <a:spcPts val="0"/>
              </a:spcBef>
              <a:spcAft>
                <a:spcPts val="0"/>
              </a:spcAft>
              <a:buSzPts val="1800"/>
              <a:buAutoNum type="arabicPeriod"/>
            </a:pPr>
            <a:r>
              <a:rPr lang="en"/>
              <a:t>Phi Query Structure</a:t>
            </a:r>
            <a:endParaRPr/>
          </a:p>
          <a:p>
            <a:pPr indent="-342900" lvl="0" marL="457200" rtl="0" algn="l">
              <a:spcBef>
                <a:spcPts val="0"/>
              </a:spcBef>
              <a:spcAft>
                <a:spcPts val="0"/>
              </a:spcAft>
              <a:buSzPts val="1800"/>
              <a:buAutoNum type="arabicPeriod"/>
            </a:pPr>
            <a:r>
              <a:rPr lang="en"/>
              <a:t>Tech Stack</a:t>
            </a:r>
            <a:endParaRPr/>
          </a:p>
          <a:p>
            <a:pPr indent="-342900" lvl="0" marL="457200" rtl="0" algn="l">
              <a:spcBef>
                <a:spcPts val="0"/>
              </a:spcBef>
              <a:spcAft>
                <a:spcPts val="0"/>
              </a:spcAft>
              <a:buSzPts val="1800"/>
              <a:buAutoNum type="arabicPeriod"/>
            </a:pPr>
            <a:r>
              <a:rPr lang="en"/>
              <a:t>Product Limitations</a:t>
            </a:r>
            <a:endParaRPr/>
          </a:p>
          <a:p>
            <a:pPr indent="-342900" lvl="0" marL="457200" rtl="0" algn="l">
              <a:spcBef>
                <a:spcPts val="0"/>
              </a:spcBef>
              <a:spcAft>
                <a:spcPts val="0"/>
              </a:spcAft>
              <a:buSzPts val="1800"/>
              <a:buAutoNum type="arabicPeriod"/>
            </a:pPr>
            <a:r>
              <a:rPr lang="en"/>
              <a:t>Summary &amp; Future Improvements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a:p>
            <a:pPr indent="0" lvl="0" marL="0" rtl="0" algn="l">
              <a:spcBef>
                <a:spcPts val="0"/>
              </a:spcBef>
              <a:spcAft>
                <a:spcPts val="0"/>
              </a:spcAft>
              <a:buNone/>
            </a:pPr>
            <a:r>
              <a:t/>
            </a:r>
            <a:endParaRPr/>
          </a:p>
        </p:txBody>
      </p:sp>
      <p:sp>
        <p:nvSpPr>
          <p:cNvPr id="72" name="Google Shape;72;p15"/>
          <p:cNvSpPr txBox="1"/>
          <p:nvPr>
            <p:ph idx="1" type="body"/>
          </p:nvPr>
        </p:nvSpPr>
        <p:spPr>
          <a:xfrm>
            <a:off x="311700" y="1171600"/>
            <a:ext cx="8520600" cy="3548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Aggregation is very important for e.g. statistical databases, business decision making</a:t>
            </a:r>
            <a:endParaRPr/>
          </a:p>
          <a:p>
            <a:pPr indent="-342900" lvl="0" marL="457200" rtl="0" algn="l">
              <a:spcBef>
                <a:spcPts val="0"/>
              </a:spcBef>
              <a:spcAft>
                <a:spcPts val="0"/>
              </a:spcAft>
              <a:buSzPts val="1800"/>
              <a:buChar char="●"/>
            </a:pPr>
            <a:r>
              <a:rPr lang="en"/>
              <a:t>We need to be able to succinctly </a:t>
            </a:r>
            <a:r>
              <a:rPr b="1" lang="en"/>
              <a:t>express</a:t>
            </a:r>
            <a:r>
              <a:rPr lang="en"/>
              <a:t> common aggregate queries and for the database to efficiently </a:t>
            </a:r>
            <a:r>
              <a:rPr b="1" lang="en"/>
              <a:t>evaluate</a:t>
            </a:r>
            <a:r>
              <a:rPr lang="en"/>
              <a:t> these queries</a:t>
            </a:r>
            <a:endParaRPr/>
          </a:p>
          <a:p>
            <a:pPr indent="-342900" lvl="0" marL="457200" rtl="0" algn="l">
              <a:spcBef>
                <a:spcPts val="0"/>
              </a:spcBef>
              <a:spcAft>
                <a:spcPts val="0"/>
              </a:spcAft>
              <a:buSzPts val="1800"/>
              <a:buChar char="●"/>
            </a:pPr>
            <a:r>
              <a:rPr lang="en"/>
              <a:t>Standard SQL struggles with concise expression of queries with grouping and aggregation over the same groups</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latin typeface="Roboto Mono"/>
              <a:ea typeface="Roboto Mono"/>
              <a:cs typeface="Roboto Mono"/>
              <a:sym typeface="Roboto Mono"/>
            </a:endParaRPr>
          </a:p>
        </p:txBody>
      </p:sp>
      <p:sp>
        <p:nvSpPr>
          <p:cNvPr id="73" name="Google Shape;73;p15"/>
          <p:cNvSpPr txBox="1"/>
          <p:nvPr/>
        </p:nvSpPr>
        <p:spPr>
          <a:xfrm>
            <a:off x="180600" y="4030700"/>
            <a:ext cx="8782800" cy="78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dk1"/>
                </a:solidFill>
                <a:latin typeface="Old Standard TT"/>
                <a:ea typeface="Old Standard TT"/>
                <a:cs typeface="Old Standard TT"/>
                <a:sym typeface="Old Standard TT"/>
              </a:rPr>
              <a:t>Assume we want to find months that were significant for sales of a product. For each product, show the product’s average sales before and after each month.</a:t>
            </a:r>
            <a:endParaRPr sz="1800">
              <a:solidFill>
                <a:schemeClr val="dk1"/>
              </a:solidFill>
              <a:latin typeface="Roboto Mono"/>
              <a:ea typeface="Roboto Mono"/>
              <a:cs typeface="Roboto Mono"/>
              <a:sym typeface="Roboto Mon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a:p>
            <a:pPr indent="0" lvl="0" marL="0" rtl="0" algn="l">
              <a:spcBef>
                <a:spcPts val="0"/>
              </a:spcBef>
              <a:spcAft>
                <a:spcPts val="0"/>
              </a:spcAft>
              <a:buNone/>
            </a:pPr>
            <a:r>
              <a:t/>
            </a:r>
            <a:endParaRPr/>
          </a:p>
        </p:txBody>
      </p:sp>
      <p:sp>
        <p:nvSpPr>
          <p:cNvPr id="79" name="Google Shape;79;p16"/>
          <p:cNvSpPr/>
          <p:nvPr/>
        </p:nvSpPr>
        <p:spPr>
          <a:xfrm>
            <a:off x="925275" y="982675"/>
            <a:ext cx="1106400" cy="413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80" name="Google Shape;80;p16"/>
          <p:cNvSpPr txBox="1"/>
          <p:nvPr/>
        </p:nvSpPr>
        <p:spPr>
          <a:xfrm>
            <a:off x="311700" y="1058225"/>
            <a:ext cx="8037600" cy="3966300"/>
          </a:xfrm>
          <a:prstGeom prst="rect">
            <a:avLst/>
          </a:prstGeom>
          <a:noFill/>
          <a:ln>
            <a:noFill/>
          </a:ln>
        </p:spPr>
        <p:txBody>
          <a:bodyPr anchorCtr="0" anchor="t" bIns="91425" lIns="91425" spcFirstLastPara="1" rIns="91425" wrap="square" tIns="91425">
            <a:noAutofit/>
          </a:bodyPr>
          <a:lstStyle/>
          <a:p>
            <a:pPr indent="0" lvl="0" marL="0" rtl="0" algn="l">
              <a:lnSpc>
                <a:spcPct val="50000"/>
              </a:lnSpc>
              <a:spcBef>
                <a:spcPts val="0"/>
              </a:spcBef>
              <a:spcAft>
                <a:spcPts val="0"/>
              </a:spcAft>
              <a:buNone/>
            </a:pPr>
            <a:r>
              <a:rPr lang="en" sz="1600">
                <a:solidFill>
                  <a:schemeClr val="dk1"/>
                </a:solidFill>
                <a:latin typeface="Roboto Mono"/>
                <a:ea typeface="Roboto Mono"/>
                <a:cs typeface="Roboto Mono"/>
                <a:sym typeface="Roboto Mono"/>
              </a:rPr>
              <a:t>With before(prod, month, avg_x) as (</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	Select x.prod, x.month, avg(y.quant)</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	From sales x, sales y</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	Where x.prod = y.prod and x.month &gt; y.month</a:t>
            </a:r>
            <a:endParaRPr sz="1600">
              <a:solidFill>
                <a:schemeClr val="dk1"/>
              </a:solidFill>
              <a:latin typeface="Roboto Mono"/>
              <a:ea typeface="Roboto Mono"/>
              <a:cs typeface="Roboto Mono"/>
              <a:sym typeface="Roboto Mono"/>
            </a:endParaRPr>
          </a:p>
          <a:p>
            <a:pPr indent="45720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Group by x.prod, x.month),</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after(prod, month, avg_y) as (</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	Select x.prod, x.month, avg(y.quant)</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	From sales x, sales y</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	Where x.prod = y.prod and x.month &lt; y.month</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	Group by x.prod, x.month)</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Select b.prod, b.month, avg_x, avg_y</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From sales s</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Left join before b on s.prod = b.prod and s.month = b.month</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1200"/>
              </a:spcAft>
              <a:buNone/>
            </a:pPr>
            <a:r>
              <a:rPr lang="en" sz="1600">
                <a:solidFill>
                  <a:schemeClr val="dk1"/>
                </a:solidFill>
                <a:latin typeface="Roboto Mono"/>
                <a:ea typeface="Roboto Mono"/>
                <a:cs typeface="Roboto Mono"/>
                <a:sym typeface="Roboto Mono"/>
              </a:rPr>
              <a:t>Left join after a on s.prod = a.prod and s.month = a.month</a:t>
            </a:r>
            <a:endParaRPr sz="1600">
              <a:solidFill>
                <a:schemeClr val="dk1"/>
              </a:solidFill>
              <a:latin typeface="Roboto Mono"/>
              <a:ea typeface="Roboto Mono"/>
              <a:cs typeface="Roboto Mono"/>
              <a:sym typeface="Roboto Mono"/>
            </a:endParaRPr>
          </a:p>
        </p:txBody>
      </p:sp>
      <p:sp>
        <p:nvSpPr>
          <p:cNvPr id="81" name="Google Shape;81;p16"/>
          <p:cNvSpPr/>
          <p:nvPr/>
        </p:nvSpPr>
        <p:spPr>
          <a:xfrm>
            <a:off x="262975" y="2365050"/>
            <a:ext cx="1106400" cy="413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82" name="Google Shape;82;p16"/>
          <p:cNvSpPr/>
          <p:nvPr/>
        </p:nvSpPr>
        <p:spPr>
          <a:xfrm>
            <a:off x="1369375" y="1504938"/>
            <a:ext cx="1106400" cy="413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83" name="Google Shape;83;p16"/>
          <p:cNvSpPr/>
          <p:nvPr/>
        </p:nvSpPr>
        <p:spPr>
          <a:xfrm>
            <a:off x="2385100" y="1504938"/>
            <a:ext cx="1106400" cy="413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84" name="Google Shape;84;p16"/>
          <p:cNvSpPr/>
          <p:nvPr/>
        </p:nvSpPr>
        <p:spPr>
          <a:xfrm>
            <a:off x="1418825" y="2909763"/>
            <a:ext cx="1106400" cy="413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85" name="Google Shape;85;p16"/>
          <p:cNvSpPr/>
          <p:nvPr/>
        </p:nvSpPr>
        <p:spPr>
          <a:xfrm>
            <a:off x="2475775" y="2909763"/>
            <a:ext cx="1106400" cy="413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86" name="Google Shape;86;p16"/>
          <p:cNvSpPr/>
          <p:nvPr/>
        </p:nvSpPr>
        <p:spPr>
          <a:xfrm>
            <a:off x="780850" y="3451263"/>
            <a:ext cx="1106400" cy="413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87" name="Google Shape;87;p16"/>
          <p:cNvSpPr/>
          <p:nvPr/>
        </p:nvSpPr>
        <p:spPr>
          <a:xfrm>
            <a:off x="780850" y="2048038"/>
            <a:ext cx="1106400" cy="413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88" name="Google Shape;88;p16"/>
          <p:cNvSpPr/>
          <p:nvPr/>
        </p:nvSpPr>
        <p:spPr>
          <a:xfrm>
            <a:off x="6397075" y="926650"/>
            <a:ext cx="753900" cy="3623700"/>
          </a:xfrm>
          <a:prstGeom prst="rightBrace">
            <a:avLst>
              <a:gd fmla="val 50000" name="adj1"/>
              <a:gd fmla="val 50000" name="adj2"/>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89" name="Google Shape;89;p16"/>
          <p:cNvSpPr txBox="1"/>
          <p:nvPr/>
        </p:nvSpPr>
        <p:spPr>
          <a:xfrm>
            <a:off x="7150975" y="1669525"/>
            <a:ext cx="1895700" cy="240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Long</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Multiple scans</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Expensive for a query that is conceptually simple</a:t>
            </a:r>
            <a:endParaRPr sz="1800">
              <a:solidFill>
                <a:schemeClr val="dk1"/>
              </a:solidFill>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Extended SQL Solution</a:t>
            </a:r>
            <a:endParaRPr/>
          </a:p>
        </p:txBody>
      </p:sp>
      <p:sp>
        <p:nvSpPr>
          <p:cNvPr id="95" name="Google Shape;95;p17"/>
          <p:cNvSpPr txBox="1"/>
          <p:nvPr/>
        </p:nvSpPr>
        <p:spPr>
          <a:xfrm>
            <a:off x="311700" y="1058225"/>
            <a:ext cx="8037600" cy="1531500"/>
          </a:xfrm>
          <a:prstGeom prst="rect">
            <a:avLst/>
          </a:prstGeom>
          <a:noFill/>
          <a:ln>
            <a:noFill/>
          </a:ln>
        </p:spPr>
        <p:txBody>
          <a:bodyPr anchorCtr="0" anchor="t" bIns="91425" lIns="91425" spcFirstLastPara="1" rIns="91425" wrap="square" tIns="91425">
            <a:noAutofit/>
          </a:bodyPr>
          <a:lstStyle/>
          <a:p>
            <a:pPr indent="0" lvl="0" marL="0" rtl="0" algn="l">
              <a:lnSpc>
                <a:spcPct val="50000"/>
              </a:lnSpc>
              <a:spcBef>
                <a:spcPts val="0"/>
              </a:spcBef>
              <a:spcAft>
                <a:spcPts val="0"/>
              </a:spcAft>
              <a:buNone/>
            </a:pPr>
            <a:r>
              <a:rPr lang="en" sz="1600">
                <a:solidFill>
                  <a:schemeClr val="dk1"/>
                </a:solidFill>
                <a:latin typeface="Roboto Mono"/>
                <a:ea typeface="Roboto Mono"/>
                <a:cs typeface="Roboto Mono"/>
                <a:sym typeface="Roboto Mono"/>
              </a:rPr>
              <a:t>Select prod, month, avg(x.quant), avg(y.quant)</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From sales</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Group by prod, month; x, y</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None/>
            </a:pPr>
            <a:r>
              <a:rPr lang="en" sz="1600">
                <a:solidFill>
                  <a:schemeClr val="dk1"/>
                </a:solidFill>
                <a:latin typeface="Roboto Mono"/>
                <a:ea typeface="Roboto Mono"/>
                <a:cs typeface="Roboto Mono"/>
                <a:sym typeface="Roboto Mono"/>
              </a:rPr>
              <a:t>Such that x.prod = prod and x.month &lt; month and</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1200"/>
              </a:spcAft>
              <a:buNone/>
            </a:pPr>
            <a:r>
              <a:rPr lang="en" sz="1600">
                <a:solidFill>
                  <a:schemeClr val="dk1"/>
                </a:solidFill>
                <a:latin typeface="Roboto Mono"/>
                <a:ea typeface="Roboto Mono"/>
                <a:cs typeface="Roboto Mono"/>
                <a:sym typeface="Roboto Mono"/>
              </a:rPr>
              <a:t>		Y.prod = prod and y.month &gt; month</a:t>
            </a:r>
            <a:endParaRPr sz="1600">
              <a:solidFill>
                <a:schemeClr val="dk1"/>
              </a:solidFill>
              <a:latin typeface="Roboto Mono"/>
              <a:ea typeface="Roboto Mono"/>
              <a:cs typeface="Roboto Mono"/>
              <a:sym typeface="Roboto Mono"/>
            </a:endParaRPr>
          </a:p>
        </p:txBody>
      </p:sp>
      <p:sp>
        <p:nvSpPr>
          <p:cNvPr id="96" name="Google Shape;96;p17"/>
          <p:cNvSpPr/>
          <p:nvPr/>
        </p:nvSpPr>
        <p:spPr>
          <a:xfrm>
            <a:off x="6397075" y="926650"/>
            <a:ext cx="558300" cy="1531500"/>
          </a:xfrm>
          <a:prstGeom prst="rightBrace">
            <a:avLst>
              <a:gd fmla="val 50000" name="adj1"/>
              <a:gd fmla="val 49838" name="adj2"/>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97" name="Google Shape;97;p17"/>
          <p:cNvSpPr txBox="1"/>
          <p:nvPr/>
        </p:nvSpPr>
        <p:spPr>
          <a:xfrm>
            <a:off x="7054975" y="1214675"/>
            <a:ext cx="1895700" cy="116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More concise</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3 scans</a:t>
            </a:r>
            <a:endParaRPr sz="1800">
              <a:solidFill>
                <a:schemeClr val="dk1"/>
              </a:solidFill>
              <a:latin typeface="Old Standard TT"/>
              <a:ea typeface="Old Standard TT"/>
              <a:cs typeface="Old Standard TT"/>
              <a:sym typeface="Old Standard TT"/>
            </a:endParaRPr>
          </a:p>
        </p:txBody>
      </p:sp>
      <p:sp>
        <p:nvSpPr>
          <p:cNvPr id="98" name="Google Shape;98;p17"/>
          <p:cNvSpPr txBox="1"/>
          <p:nvPr/>
        </p:nvSpPr>
        <p:spPr>
          <a:xfrm>
            <a:off x="395525" y="2979975"/>
            <a:ext cx="8436900" cy="1959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chemeClr val="dk1"/>
                </a:solidFill>
                <a:latin typeface="Old Standard TT"/>
                <a:ea typeface="Old Standard TT"/>
                <a:cs typeface="Old Standard TT"/>
                <a:sym typeface="Old Standard TT"/>
              </a:rPr>
              <a:t>Our solution:</a:t>
            </a:r>
            <a:endParaRPr sz="1800">
              <a:solidFill>
                <a:schemeClr val="dk1"/>
              </a:solidFill>
              <a:latin typeface="Old Standard TT"/>
              <a:ea typeface="Old Standard TT"/>
              <a:cs typeface="Old Standard TT"/>
              <a:sym typeface="Old Standard TT"/>
            </a:endParaRPr>
          </a:p>
          <a:p>
            <a:pPr indent="-342900" lvl="0" marL="457200" rtl="0" algn="l">
              <a:lnSpc>
                <a:spcPct val="115000"/>
              </a:lnSpc>
              <a:spcBef>
                <a:spcPts val="120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Introduces custom phi operator, grouping variables, MF and EMF queries</a:t>
            </a:r>
            <a:endParaRPr sz="1800">
              <a:solidFill>
                <a:schemeClr val="dk1"/>
              </a:solidFill>
              <a:latin typeface="Old Standard TT"/>
              <a:ea typeface="Old Standard TT"/>
              <a:cs typeface="Old Standard TT"/>
              <a:sym typeface="Old Standard TT"/>
            </a:endParaRPr>
          </a:p>
          <a:p>
            <a:pPr indent="-342900" lvl="0" marL="457200" rtl="0" algn="l">
              <a:lnSpc>
                <a:spcPct val="115000"/>
              </a:lnSpc>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Reduces redundancy and improves optimization</a:t>
            </a:r>
            <a:endParaRPr sz="1800">
              <a:solidFill>
                <a:schemeClr val="dk1"/>
              </a:solidFill>
              <a:latin typeface="Old Standard TT"/>
              <a:ea typeface="Old Standard TT"/>
              <a:cs typeface="Old Standard TT"/>
              <a:sym typeface="Old Standard TT"/>
            </a:endParaRPr>
          </a:p>
          <a:p>
            <a:pPr indent="-342900" lvl="0" marL="457200" rtl="0" algn="l">
              <a:lnSpc>
                <a:spcPct val="115000"/>
              </a:lnSpc>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Improves </a:t>
            </a:r>
            <a:r>
              <a:rPr lang="en" sz="1800">
                <a:solidFill>
                  <a:schemeClr val="dk1"/>
                </a:solidFill>
                <a:latin typeface="Old Standard TT"/>
                <a:ea typeface="Old Standard TT"/>
                <a:cs typeface="Old Standard TT"/>
                <a:sym typeface="Old Standard TT"/>
              </a:rPr>
              <a:t>ability</a:t>
            </a:r>
            <a:r>
              <a:rPr lang="en" sz="1800">
                <a:solidFill>
                  <a:schemeClr val="dk1"/>
                </a:solidFill>
                <a:latin typeface="Old Standard TT"/>
                <a:ea typeface="Old Standard TT"/>
                <a:cs typeface="Old Standard TT"/>
                <a:sym typeface="Old Standard TT"/>
              </a:rPr>
              <a:t> for database to </a:t>
            </a:r>
            <a:r>
              <a:rPr lang="en" sz="1800">
                <a:solidFill>
                  <a:schemeClr val="dk1"/>
                </a:solidFill>
                <a:latin typeface="Old Standard TT"/>
                <a:ea typeface="Old Standard TT"/>
                <a:cs typeface="Old Standard TT"/>
                <a:sym typeface="Old Standard TT"/>
              </a:rPr>
              <a:t>efficiently</a:t>
            </a:r>
            <a:r>
              <a:rPr lang="en" sz="1800">
                <a:solidFill>
                  <a:schemeClr val="dk1"/>
                </a:solidFill>
                <a:latin typeface="Old Standard TT"/>
                <a:ea typeface="Old Standard TT"/>
                <a:cs typeface="Old Standard TT"/>
                <a:sym typeface="Old Standard TT"/>
              </a:rPr>
              <a:t> evaluate it for optimizations</a:t>
            </a:r>
            <a:endParaRPr sz="1800">
              <a:solidFill>
                <a:schemeClr val="dk1"/>
              </a:solidFill>
              <a:latin typeface="Old Standard TT"/>
              <a:ea typeface="Old Standard TT"/>
              <a:cs typeface="Old Standard TT"/>
              <a:sym typeface="Old Standard T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 name="Shape 102"/>
        <p:cNvGrpSpPr/>
        <p:nvPr/>
      </p:nvGrpSpPr>
      <p:grpSpPr>
        <a:xfrm>
          <a:off x="0" y="0"/>
          <a:ext cx="0" cy="0"/>
          <a:chOff x="0" y="0"/>
          <a:chExt cx="0" cy="0"/>
        </a:xfrm>
      </p:grpSpPr>
      <p:sp>
        <p:nvSpPr>
          <p:cNvPr id="103" name="Google Shape;103;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Quoptimized: How does it work? </a:t>
            </a:r>
            <a:endParaRPr/>
          </a:p>
        </p:txBody>
      </p:sp>
      <p:sp>
        <p:nvSpPr>
          <p:cNvPr id="104" name="Google Shape;104;p18"/>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Dynamically generates </a:t>
            </a:r>
            <a:r>
              <a:rPr lang="en"/>
              <a:t>query processing code </a:t>
            </a:r>
            <a:endParaRPr/>
          </a:p>
          <a:p>
            <a:pPr indent="-342900" lvl="0" marL="457200" rtl="0" algn="l">
              <a:spcBef>
                <a:spcPts val="0"/>
              </a:spcBef>
              <a:spcAft>
                <a:spcPts val="0"/>
              </a:spcAft>
              <a:buSzPts val="1800"/>
              <a:buChar char="●"/>
            </a:pPr>
            <a:r>
              <a:rPr lang="en"/>
              <a:t>Efficiently processes code through the use of: </a:t>
            </a:r>
            <a:endParaRPr/>
          </a:p>
          <a:p>
            <a:pPr indent="-317500" lvl="1" marL="914400" rtl="0" algn="l">
              <a:spcBef>
                <a:spcPts val="0"/>
              </a:spcBef>
              <a:spcAft>
                <a:spcPts val="0"/>
              </a:spcAft>
              <a:buSzPts val="1400"/>
              <a:buChar char="○"/>
            </a:pPr>
            <a:r>
              <a:rPr lang="en"/>
              <a:t>Phi operator</a:t>
            </a:r>
            <a:endParaRPr/>
          </a:p>
          <a:p>
            <a:pPr indent="-317500" lvl="1" marL="914400" rtl="0" algn="l">
              <a:spcBef>
                <a:spcPts val="0"/>
              </a:spcBef>
              <a:spcAft>
                <a:spcPts val="0"/>
              </a:spcAft>
              <a:buSzPts val="1400"/>
              <a:buChar char="○"/>
            </a:pPr>
            <a:r>
              <a:rPr lang="en"/>
              <a:t>Grouping variables</a:t>
            </a:r>
            <a:endParaRPr/>
          </a:p>
          <a:p>
            <a:pPr indent="-317500" lvl="1" marL="914400" rtl="0" algn="l">
              <a:spcBef>
                <a:spcPts val="0"/>
              </a:spcBef>
              <a:spcAft>
                <a:spcPts val="0"/>
              </a:spcAft>
              <a:buSzPts val="1400"/>
              <a:buChar char="○"/>
            </a:pPr>
            <a:r>
              <a:rPr lang="en"/>
              <a:t>Multi-feature queries</a:t>
            </a:r>
            <a:endParaRPr/>
          </a:p>
          <a:p>
            <a:pPr indent="-317500" lvl="1" marL="914400" rtl="0" algn="l">
              <a:spcBef>
                <a:spcPts val="0"/>
              </a:spcBef>
              <a:spcAft>
                <a:spcPts val="0"/>
              </a:spcAft>
              <a:buSzPts val="1400"/>
              <a:buChar char="○"/>
            </a:pPr>
            <a:r>
              <a:rPr lang="en"/>
              <a:t>Extended multi-feature queries </a:t>
            </a:r>
            <a:endParaRPr/>
          </a:p>
          <a:p>
            <a:pPr indent="-342900" lvl="0" marL="457200" rtl="0" algn="l">
              <a:spcBef>
                <a:spcPts val="0"/>
              </a:spcBef>
              <a:spcAft>
                <a:spcPts val="0"/>
              </a:spcAft>
              <a:buSzPts val="1800"/>
              <a:buChar char="●"/>
            </a:pPr>
            <a:r>
              <a:rPr lang="en"/>
              <a:t>Shortens the length of queries used in traditional SQL </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Architecture</a:t>
            </a:r>
            <a:endParaRPr/>
          </a:p>
        </p:txBody>
      </p:sp>
      <p:pic>
        <p:nvPicPr>
          <p:cNvPr id="110" name="Google Shape;110;p19"/>
          <p:cNvPicPr preferRelativeResize="0"/>
          <p:nvPr/>
        </p:nvPicPr>
        <p:blipFill>
          <a:blip r:embed="rId3">
            <a:alphaModFix/>
          </a:blip>
          <a:stretch>
            <a:fillRect/>
          </a:stretch>
        </p:blipFill>
        <p:spPr>
          <a:xfrm>
            <a:off x="2965177" y="304062"/>
            <a:ext cx="4817649" cy="45353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6667"/>
              <a:buFont typeface="Arial"/>
              <a:buNone/>
            </a:pPr>
            <a:r>
              <a:rPr lang="en"/>
              <a:t>Workload Split Between Group Members</a:t>
            </a:r>
            <a:endParaRPr/>
          </a:p>
          <a:p>
            <a:pPr indent="0" lvl="0" marL="0" rtl="0" algn="l">
              <a:spcBef>
                <a:spcPts val="0"/>
              </a:spcBef>
              <a:spcAft>
                <a:spcPts val="0"/>
              </a:spcAft>
              <a:buNone/>
            </a:pPr>
            <a:r>
              <a:t/>
            </a:r>
            <a:endParaRPr/>
          </a:p>
        </p:txBody>
      </p:sp>
      <p:sp>
        <p:nvSpPr>
          <p:cNvPr id="116" name="Google Shape;116;p20"/>
          <p:cNvSpPr txBox="1"/>
          <p:nvPr>
            <p:ph idx="1" type="body"/>
          </p:nvPr>
        </p:nvSpPr>
        <p:spPr>
          <a:xfrm>
            <a:off x="125700" y="1155425"/>
            <a:ext cx="44031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Sara</a:t>
            </a:r>
            <a:endParaRPr/>
          </a:p>
          <a:p>
            <a:pPr indent="-317500" lvl="1" marL="914400" rtl="0" algn="l">
              <a:spcBef>
                <a:spcPts val="0"/>
              </a:spcBef>
              <a:spcAft>
                <a:spcPts val="0"/>
              </a:spcAft>
              <a:buSzPts val="1400"/>
              <a:buChar char="○"/>
            </a:pPr>
            <a:r>
              <a:rPr lang="en"/>
              <a:t>P</a:t>
            </a:r>
            <a:r>
              <a:rPr lang="en"/>
              <a:t>rogram architecture/framework</a:t>
            </a:r>
            <a:endParaRPr/>
          </a:p>
          <a:p>
            <a:pPr indent="-317500" lvl="1" marL="914400" rtl="0" algn="l">
              <a:spcBef>
                <a:spcPts val="0"/>
              </a:spcBef>
              <a:spcAft>
                <a:spcPts val="0"/>
              </a:spcAft>
              <a:buSzPts val="1400"/>
              <a:buChar char="○"/>
            </a:pPr>
            <a:r>
              <a:rPr lang="en"/>
              <a:t>MF structure generation</a:t>
            </a:r>
            <a:endParaRPr/>
          </a:p>
          <a:p>
            <a:pPr indent="-317500" lvl="1" marL="914400" rtl="0" algn="l">
              <a:spcBef>
                <a:spcPts val="0"/>
              </a:spcBef>
              <a:spcAft>
                <a:spcPts val="0"/>
              </a:spcAft>
              <a:buSzPts val="1400"/>
              <a:buChar char="○"/>
            </a:pPr>
            <a:r>
              <a:rPr lang="en"/>
              <a:t>Phi parameter parsing</a:t>
            </a:r>
            <a:endParaRPr/>
          </a:p>
          <a:p>
            <a:pPr indent="-317500" lvl="1" marL="914400" rtl="0" algn="l">
              <a:spcBef>
                <a:spcPts val="0"/>
              </a:spcBef>
              <a:spcAft>
                <a:spcPts val="0"/>
              </a:spcAft>
              <a:buSzPts val="1400"/>
              <a:buChar char="○"/>
            </a:pPr>
            <a:r>
              <a:rPr lang="en"/>
              <a:t>Advanced predicate processing</a:t>
            </a:r>
            <a:endParaRPr/>
          </a:p>
          <a:p>
            <a:pPr indent="-317500" lvl="2" marL="1371600" rtl="0" algn="l">
              <a:spcBef>
                <a:spcPts val="0"/>
              </a:spcBef>
              <a:spcAft>
                <a:spcPts val="0"/>
              </a:spcAft>
              <a:buSzPts val="1400"/>
              <a:buChar char="■"/>
            </a:pPr>
            <a:r>
              <a:rPr lang="en"/>
              <a:t>x.state=’CT’ and x.year=’1997’</a:t>
            </a:r>
            <a:endParaRPr/>
          </a:p>
          <a:p>
            <a:pPr indent="-317500" lvl="1" marL="914400" rtl="0" algn="l">
              <a:spcBef>
                <a:spcPts val="0"/>
              </a:spcBef>
              <a:spcAft>
                <a:spcPts val="0"/>
              </a:spcAft>
              <a:buSzPts val="1400"/>
              <a:buChar char="○"/>
            </a:pPr>
            <a:r>
              <a:rPr lang="en" sz="1800"/>
              <a:t>HAVING clause logic </a:t>
            </a:r>
            <a:endParaRPr/>
          </a:p>
          <a:p>
            <a:pPr indent="-317500" lvl="1" marL="914400" rtl="0" algn="l">
              <a:spcBef>
                <a:spcPts val="0"/>
              </a:spcBef>
              <a:spcAft>
                <a:spcPts val="0"/>
              </a:spcAft>
              <a:buSzPts val="1400"/>
              <a:buChar char="○"/>
            </a:pPr>
            <a:r>
              <a:rPr lang="en"/>
              <a:t>Created MF/EMF test cases</a:t>
            </a:r>
            <a:endParaRPr/>
          </a:p>
        </p:txBody>
      </p:sp>
      <p:sp>
        <p:nvSpPr>
          <p:cNvPr id="117" name="Google Shape;117;p20"/>
          <p:cNvSpPr txBox="1"/>
          <p:nvPr>
            <p:ph idx="1" type="body"/>
          </p:nvPr>
        </p:nvSpPr>
        <p:spPr>
          <a:xfrm>
            <a:off x="4572000" y="1155425"/>
            <a:ext cx="44031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Shasha:</a:t>
            </a:r>
            <a:endParaRPr/>
          </a:p>
          <a:p>
            <a:pPr indent="-317500" lvl="1" marL="914400" rtl="0" algn="l">
              <a:spcBef>
                <a:spcPts val="0"/>
              </a:spcBef>
              <a:spcAft>
                <a:spcPts val="0"/>
              </a:spcAft>
              <a:buSzPts val="1400"/>
              <a:buChar char="○"/>
            </a:pPr>
            <a:r>
              <a:rPr lang="en"/>
              <a:t>Input validation</a:t>
            </a:r>
            <a:endParaRPr/>
          </a:p>
          <a:p>
            <a:pPr indent="-317500" lvl="1" marL="914400" rtl="0" algn="l">
              <a:spcBef>
                <a:spcPts val="0"/>
              </a:spcBef>
              <a:spcAft>
                <a:spcPts val="0"/>
              </a:spcAft>
              <a:buSzPts val="1400"/>
              <a:buChar char="○"/>
            </a:pPr>
            <a:r>
              <a:rPr lang="en"/>
              <a:t>Aggregate parsing</a:t>
            </a:r>
            <a:endParaRPr/>
          </a:p>
          <a:p>
            <a:pPr indent="-317500" lvl="1" marL="914400" rtl="0" algn="l">
              <a:spcBef>
                <a:spcPts val="0"/>
              </a:spcBef>
              <a:spcAft>
                <a:spcPts val="0"/>
              </a:spcAft>
              <a:buSzPts val="1400"/>
              <a:buChar char="○"/>
            </a:pPr>
            <a:r>
              <a:rPr lang="en"/>
              <a:t>Aggregate calculations</a:t>
            </a:r>
            <a:endParaRPr/>
          </a:p>
          <a:p>
            <a:pPr indent="-317500" lvl="1" marL="914400" rtl="0" algn="l">
              <a:spcBef>
                <a:spcPts val="0"/>
              </a:spcBef>
              <a:spcAft>
                <a:spcPts val="0"/>
              </a:spcAft>
              <a:buSzPts val="1400"/>
              <a:buChar char="○"/>
            </a:pPr>
            <a:r>
              <a:rPr lang="en"/>
              <a:t>Group creation logic</a:t>
            </a:r>
            <a:endParaRPr/>
          </a:p>
          <a:p>
            <a:pPr indent="-317500" lvl="1" marL="914400" rtl="0" algn="l">
              <a:spcBef>
                <a:spcPts val="0"/>
              </a:spcBef>
              <a:spcAft>
                <a:spcPts val="0"/>
              </a:spcAft>
              <a:buSzPts val="1400"/>
              <a:buChar char="○"/>
            </a:pPr>
            <a:r>
              <a:rPr lang="en"/>
              <a:t>Base predicate handling</a:t>
            </a:r>
            <a:endParaRPr/>
          </a:p>
          <a:p>
            <a:pPr indent="-317500" lvl="2" marL="1371600" rtl="0" algn="l">
              <a:spcBef>
                <a:spcPts val="0"/>
              </a:spcBef>
              <a:spcAft>
                <a:spcPts val="0"/>
              </a:spcAft>
              <a:buSzPts val="1400"/>
              <a:buChar char="■"/>
            </a:pPr>
            <a:r>
              <a:rPr lang="en"/>
              <a:t>x.state=’CT’</a:t>
            </a:r>
            <a:endParaRPr/>
          </a:p>
          <a:p>
            <a:pPr indent="-317500" lvl="1" marL="914400" rtl="0" algn="l">
              <a:spcBef>
                <a:spcPts val="0"/>
              </a:spcBef>
              <a:spcAft>
                <a:spcPts val="0"/>
              </a:spcAft>
              <a:buSzPts val="1400"/>
              <a:buChar char="○"/>
            </a:pPr>
            <a:r>
              <a:rPr lang="en"/>
              <a:t>Output table generation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Input Phi Query Structure</a:t>
            </a:r>
            <a:endParaRPr/>
          </a:p>
        </p:txBody>
      </p:sp>
      <p:sp>
        <p:nvSpPr>
          <p:cNvPr id="123" name="Google Shape;123;p21"/>
          <p:cNvSpPr txBox="1"/>
          <p:nvPr/>
        </p:nvSpPr>
        <p:spPr>
          <a:xfrm>
            <a:off x="174600" y="1106725"/>
            <a:ext cx="8657700" cy="3605100"/>
          </a:xfrm>
          <a:prstGeom prst="rect">
            <a:avLst/>
          </a:prstGeom>
          <a:noFill/>
          <a:ln>
            <a:noFill/>
          </a:ln>
        </p:spPr>
        <p:txBody>
          <a:bodyPr anchorCtr="0" anchor="t" bIns="91425" lIns="91425" spcFirstLastPara="1" rIns="91425" wrap="square" tIns="91425">
            <a:noAutofit/>
          </a:bodyPr>
          <a:lstStyle/>
          <a:p>
            <a:pPr indent="0" lvl="0" marL="0" rtl="0" algn="l">
              <a:lnSpc>
                <a:spcPct val="50000"/>
              </a:lnSpc>
              <a:spcBef>
                <a:spcPts val="0"/>
              </a:spcBef>
              <a:spcAft>
                <a:spcPts val="0"/>
              </a:spcAft>
              <a:buClr>
                <a:schemeClr val="dk1"/>
              </a:buClr>
              <a:buSzPts val="1100"/>
              <a:buFont typeface="Arial"/>
              <a:buNone/>
            </a:pPr>
            <a:r>
              <a:rPr lang="en" sz="1600">
                <a:solidFill>
                  <a:schemeClr val="dk1"/>
                </a:solidFill>
                <a:latin typeface="Roboto Mono"/>
                <a:ea typeface="Roboto Mono"/>
                <a:cs typeface="Roboto Mono"/>
                <a:sym typeface="Roboto Mono"/>
              </a:rPr>
              <a:t>SELECT ATTRIBUTE(S):</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Clr>
                <a:schemeClr val="dk1"/>
              </a:buClr>
              <a:buSzPts val="1100"/>
              <a:buFont typeface="Arial"/>
              <a:buNone/>
            </a:pPr>
            <a:r>
              <a:rPr lang="en" sz="1600">
                <a:solidFill>
                  <a:schemeClr val="dk1"/>
                </a:solidFill>
                <a:latin typeface="Roboto Mono"/>
                <a:ea typeface="Roboto Mono"/>
                <a:cs typeface="Roboto Mono"/>
                <a:sym typeface="Roboto Mono"/>
              </a:rPr>
              <a:t>p</a:t>
            </a:r>
            <a:r>
              <a:rPr lang="en" sz="1600">
                <a:solidFill>
                  <a:schemeClr val="dk1"/>
                </a:solidFill>
                <a:latin typeface="Roboto Mono"/>
                <a:ea typeface="Roboto Mono"/>
                <a:cs typeface="Roboto Mono"/>
                <a:sym typeface="Roboto Mono"/>
              </a:rPr>
              <a:t>rod, month, avg_1_quant, avg_2_quant</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Clr>
                <a:schemeClr val="dk1"/>
              </a:buClr>
              <a:buSzPts val="1100"/>
              <a:buFont typeface="Arial"/>
              <a:buNone/>
            </a:pPr>
            <a:r>
              <a:rPr lang="en" sz="1600">
                <a:solidFill>
                  <a:schemeClr val="dk1"/>
                </a:solidFill>
                <a:latin typeface="Roboto Mono"/>
                <a:ea typeface="Roboto Mono"/>
                <a:cs typeface="Roboto Mono"/>
                <a:sym typeface="Roboto Mono"/>
              </a:rPr>
              <a:t>NUMBER OF GROUPING VARIABLES(n):</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Clr>
                <a:schemeClr val="dk1"/>
              </a:buClr>
              <a:buSzPts val="1100"/>
              <a:buFont typeface="Arial"/>
              <a:buNone/>
            </a:pPr>
            <a:r>
              <a:rPr lang="en" sz="1600">
                <a:solidFill>
                  <a:schemeClr val="dk1"/>
                </a:solidFill>
                <a:latin typeface="Roboto Mono"/>
                <a:ea typeface="Roboto Mono"/>
                <a:cs typeface="Roboto Mono"/>
                <a:sym typeface="Roboto Mono"/>
              </a:rPr>
              <a:t>2</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Clr>
                <a:schemeClr val="dk1"/>
              </a:buClr>
              <a:buSzPts val="1100"/>
              <a:buFont typeface="Arial"/>
              <a:buNone/>
            </a:pPr>
            <a:r>
              <a:rPr lang="en" sz="1600">
                <a:solidFill>
                  <a:schemeClr val="dk1"/>
                </a:solidFill>
                <a:latin typeface="Roboto Mono"/>
                <a:ea typeface="Roboto Mono"/>
                <a:cs typeface="Roboto Mono"/>
                <a:sym typeface="Roboto Mono"/>
              </a:rPr>
              <a:t>GROUPING ATTRIBUTES(V):</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Clr>
                <a:schemeClr val="dk1"/>
              </a:buClr>
              <a:buSzPts val="1100"/>
              <a:buFont typeface="Arial"/>
              <a:buNone/>
            </a:pPr>
            <a:r>
              <a:rPr lang="en" sz="1600">
                <a:solidFill>
                  <a:schemeClr val="dk1"/>
                </a:solidFill>
                <a:latin typeface="Roboto Mono"/>
                <a:ea typeface="Roboto Mono"/>
                <a:cs typeface="Roboto Mono"/>
                <a:sym typeface="Roboto Mono"/>
              </a:rPr>
              <a:t>prod, month</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Clr>
                <a:schemeClr val="dk1"/>
              </a:buClr>
              <a:buSzPts val="1100"/>
              <a:buFont typeface="Arial"/>
              <a:buNone/>
            </a:pPr>
            <a:r>
              <a:rPr lang="en" sz="1600">
                <a:solidFill>
                  <a:schemeClr val="dk1"/>
                </a:solidFill>
                <a:latin typeface="Roboto Mono"/>
                <a:ea typeface="Roboto Mono"/>
                <a:cs typeface="Roboto Mono"/>
                <a:sym typeface="Roboto Mono"/>
              </a:rPr>
              <a:t>F-VECT([F]):</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Clr>
                <a:schemeClr val="dk1"/>
              </a:buClr>
              <a:buSzPts val="1100"/>
              <a:buFont typeface="Arial"/>
              <a:buNone/>
            </a:pPr>
            <a:r>
              <a:rPr lang="en" sz="1600">
                <a:solidFill>
                  <a:schemeClr val="dk1"/>
                </a:solidFill>
                <a:latin typeface="Roboto Mono"/>
                <a:ea typeface="Roboto Mono"/>
                <a:cs typeface="Roboto Mono"/>
                <a:sym typeface="Roboto Mono"/>
              </a:rPr>
              <a:t>avg_1_quant, avg_2_quant</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Clr>
                <a:schemeClr val="dk1"/>
              </a:buClr>
              <a:buSzPts val="1100"/>
              <a:buFont typeface="Arial"/>
              <a:buNone/>
            </a:pPr>
            <a:r>
              <a:rPr lang="en" sz="1600">
                <a:solidFill>
                  <a:schemeClr val="dk1"/>
                </a:solidFill>
                <a:latin typeface="Roboto Mono"/>
                <a:ea typeface="Roboto Mono"/>
                <a:cs typeface="Roboto Mono"/>
                <a:sym typeface="Roboto Mono"/>
              </a:rPr>
              <a:t>SELECT CONDITION-VECT([σ]):</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Clr>
                <a:schemeClr val="dk1"/>
              </a:buClr>
              <a:buSzPts val="1100"/>
              <a:buFont typeface="Arial"/>
              <a:buNone/>
            </a:pPr>
            <a:r>
              <a:rPr lang="en" sz="1600">
                <a:solidFill>
                  <a:schemeClr val="dk1"/>
                </a:solidFill>
                <a:latin typeface="Roboto Mono"/>
                <a:ea typeface="Roboto Mono"/>
                <a:cs typeface="Roboto Mono"/>
                <a:sym typeface="Roboto Mono"/>
              </a:rPr>
              <a:t>1.prod=prod AND 1.month &lt; month</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Clr>
                <a:schemeClr val="dk1"/>
              </a:buClr>
              <a:buSzPts val="1100"/>
              <a:buFont typeface="Arial"/>
              <a:buNone/>
            </a:pPr>
            <a:r>
              <a:rPr lang="en" sz="1600">
                <a:solidFill>
                  <a:schemeClr val="dk1"/>
                </a:solidFill>
                <a:latin typeface="Roboto Mono"/>
                <a:ea typeface="Roboto Mono"/>
                <a:cs typeface="Roboto Mono"/>
                <a:sym typeface="Roboto Mono"/>
              </a:rPr>
              <a:t>2.</a:t>
            </a:r>
            <a:r>
              <a:rPr lang="en" sz="1600">
                <a:solidFill>
                  <a:schemeClr val="dk1"/>
                </a:solidFill>
                <a:latin typeface="Roboto Mono"/>
                <a:ea typeface="Roboto Mono"/>
                <a:cs typeface="Roboto Mono"/>
                <a:sym typeface="Roboto Mono"/>
              </a:rPr>
              <a:t>prod=prod AND 2.month &gt; month</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0"/>
              </a:spcAft>
              <a:buClr>
                <a:schemeClr val="dk1"/>
              </a:buClr>
              <a:buSzPts val="1100"/>
              <a:buFont typeface="Arial"/>
              <a:buNone/>
            </a:pPr>
            <a:r>
              <a:rPr lang="en" sz="1600">
                <a:solidFill>
                  <a:schemeClr val="dk1"/>
                </a:solidFill>
                <a:latin typeface="Roboto Mono"/>
                <a:ea typeface="Roboto Mono"/>
                <a:cs typeface="Roboto Mono"/>
                <a:sym typeface="Roboto Mono"/>
              </a:rPr>
              <a:t>HAVING_CONDITION(G):</a:t>
            </a:r>
            <a:endParaRPr sz="1600">
              <a:solidFill>
                <a:schemeClr val="dk1"/>
              </a:solidFill>
              <a:latin typeface="Roboto Mono"/>
              <a:ea typeface="Roboto Mono"/>
              <a:cs typeface="Roboto Mono"/>
              <a:sym typeface="Roboto Mono"/>
            </a:endParaRPr>
          </a:p>
          <a:p>
            <a:pPr indent="0" lvl="0" marL="0" rtl="0" algn="l">
              <a:lnSpc>
                <a:spcPct val="50000"/>
              </a:lnSpc>
              <a:spcBef>
                <a:spcPts val="1200"/>
              </a:spcBef>
              <a:spcAft>
                <a:spcPts val="1200"/>
              </a:spcAft>
              <a:buNone/>
            </a:pPr>
            <a:r>
              <a:t/>
            </a:r>
            <a:endParaRPr sz="1600">
              <a:solidFill>
                <a:schemeClr val="dk1"/>
              </a:solidFill>
              <a:latin typeface="Roboto Mono"/>
              <a:ea typeface="Roboto Mono"/>
              <a:cs typeface="Roboto Mono"/>
              <a:sym typeface="Roboto Mono"/>
            </a:endParaRPr>
          </a:p>
        </p:txBody>
      </p:sp>
      <p:sp>
        <p:nvSpPr>
          <p:cNvPr id="124" name="Google Shape;124;p21"/>
          <p:cNvSpPr txBox="1"/>
          <p:nvPr>
            <p:ph type="title"/>
          </p:nvPr>
        </p:nvSpPr>
        <p:spPr>
          <a:xfrm>
            <a:off x="5008675" y="445025"/>
            <a:ext cx="39990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 Stack</a:t>
            </a:r>
            <a:endParaRPr/>
          </a:p>
        </p:txBody>
      </p:sp>
      <p:sp>
        <p:nvSpPr>
          <p:cNvPr id="125" name="Google Shape;125;p21"/>
          <p:cNvSpPr txBox="1"/>
          <p:nvPr>
            <p:ph idx="1" type="body"/>
          </p:nvPr>
        </p:nvSpPr>
        <p:spPr>
          <a:xfrm>
            <a:off x="4975275" y="1171600"/>
            <a:ext cx="39990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Language: Python3, SQL for testing</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Database: PostgreSQL</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Packages: psycog2</a:t>
            </a:r>
            <a:endParaRPr/>
          </a:p>
        </p:txBody>
      </p:sp>
      <p:cxnSp>
        <p:nvCxnSpPr>
          <p:cNvPr id="126" name="Google Shape;126;p21"/>
          <p:cNvCxnSpPr/>
          <p:nvPr/>
        </p:nvCxnSpPr>
        <p:spPr>
          <a:xfrm>
            <a:off x="4876325" y="195300"/>
            <a:ext cx="58500" cy="4675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Limitations of Program</a:t>
            </a:r>
            <a:endParaRPr/>
          </a:p>
        </p:txBody>
      </p:sp>
      <p:sp>
        <p:nvSpPr>
          <p:cNvPr id="132" name="Google Shape;132;p22"/>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Assumes there are no empty values in the table </a:t>
            </a:r>
            <a:endParaRPr/>
          </a:p>
          <a:p>
            <a:pPr indent="-342900" lvl="0" marL="457200" rtl="0" algn="l">
              <a:spcBef>
                <a:spcPts val="0"/>
              </a:spcBef>
              <a:spcAft>
                <a:spcPts val="0"/>
              </a:spcAft>
              <a:buSzPts val="1800"/>
              <a:buChar char="●"/>
            </a:pPr>
            <a:r>
              <a:rPr lang="en"/>
              <a:t>Only supports phi input</a:t>
            </a:r>
            <a:endParaRPr/>
          </a:p>
          <a:p>
            <a:pPr indent="-342900" lvl="0" marL="457200" rtl="0" algn="l">
              <a:spcBef>
                <a:spcPts val="0"/>
              </a:spcBef>
              <a:spcAft>
                <a:spcPts val="0"/>
              </a:spcAft>
              <a:buSzPts val="1800"/>
              <a:buChar char="●"/>
            </a:pPr>
            <a:r>
              <a:rPr lang="en"/>
              <a:t>No support for arithmetic in the select (e.g. month as total percentage of year)</a:t>
            </a:r>
            <a:endParaRPr/>
          </a:p>
          <a:p>
            <a:pPr indent="-342900" lvl="0" marL="457200" rtl="0" algn="l">
              <a:spcBef>
                <a:spcPts val="0"/>
              </a:spcBef>
              <a:spcAft>
                <a:spcPts val="0"/>
              </a:spcAft>
              <a:buSzPts val="1800"/>
              <a:buChar char="●"/>
            </a:pPr>
            <a:r>
              <a:rPr lang="en"/>
              <a:t>Select does not support: * or AS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Recap &amp; Future Improvements</a:t>
            </a:r>
            <a:endParaRPr/>
          </a:p>
        </p:txBody>
      </p:sp>
      <p:sp>
        <p:nvSpPr>
          <p:cNvPr id="138" name="Google Shape;138;p23"/>
          <p:cNvSpPr txBox="1"/>
          <p:nvPr>
            <p:ph idx="1" type="body"/>
          </p:nvPr>
        </p:nvSpPr>
        <p:spPr>
          <a:xfrm>
            <a:off x="311700" y="1171600"/>
            <a:ext cx="8520600" cy="3397200"/>
          </a:xfrm>
          <a:prstGeom prst="rect">
            <a:avLst/>
          </a:prstGeom>
        </p:spPr>
        <p:txBody>
          <a:bodyPr anchorCtr="0" anchor="t" bIns="91425" lIns="91425" spcFirstLastPara="1" rIns="91425" wrap="square" tIns="91425">
            <a:normAutofit fontScale="77500" lnSpcReduction="20000"/>
          </a:bodyPr>
          <a:lstStyle/>
          <a:p>
            <a:pPr indent="-345467" lvl="0" marL="457200" rtl="0" algn="l">
              <a:spcBef>
                <a:spcPts val="0"/>
              </a:spcBef>
              <a:spcAft>
                <a:spcPts val="0"/>
              </a:spcAft>
              <a:buSzPct val="100000"/>
              <a:buChar char="●"/>
            </a:pPr>
            <a:r>
              <a:rPr lang="en" sz="2375"/>
              <a:t>Standard SQL can become repetitive, difficult to write, and difficult to maintain for complex multi layered aggregates</a:t>
            </a:r>
            <a:endParaRPr sz="2375"/>
          </a:p>
          <a:p>
            <a:pPr indent="-345467" lvl="0" marL="457200" rtl="0" algn="l">
              <a:spcBef>
                <a:spcPts val="0"/>
              </a:spcBef>
              <a:spcAft>
                <a:spcPts val="0"/>
              </a:spcAft>
              <a:buSzPct val="100000"/>
              <a:buChar char="●"/>
            </a:pPr>
            <a:r>
              <a:rPr lang="en" sz="2375"/>
              <a:t>Quo</a:t>
            </a:r>
            <a:r>
              <a:rPr lang="en" sz="2375"/>
              <a:t>ptimized uses Phi operator and advanced grouping to express OLAP queries more succinctly and efficiently than standard SQL</a:t>
            </a:r>
            <a:endParaRPr sz="2375"/>
          </a:p>
          <a:p>
            <a:pPr indent="-345467" lvl="0" marL="457200" rtl="0" algn="l">
              <a:spcBef>
                <a:spcPts val="0"/>
              </a:spcBef>
              <a:spcAft>
                <a:spcPts val="0"/>
              </a:spcAft>
              <a:buSzPct val="100000"/>
              <a:buChar char="●"/>
            </a:pPr>
            <a:r>
              <a:rPr lang="en" sz="2375"/>
              <a:t>Incorporating Quoptimized into your business will streamline your </a:t>
            </a:r>
            <a:r>
              <a:rPr lang="en" sz="2375"/>
              <a:t>analysts</a:t>
            </a:r>
            <a:r>
              <a:rPr lang="en" sz="2375"/>
              <a:t> workflows saving you time and money </a:t>
            </a:r>
            <a:endParaRPr sz="2375"/>
          </a:p>
          <a:p>
            <a:pPr indent="-345467" lvl="0" marL="457200" rtl="0" algn="l">
              <a:spcBef>
                <a:spcPts val="0"/>
              </a:spcBef>
              <a:spcAft>
                <a:spcPts val="0"/>
              </a:spcAft>
              <a:buSzPct val="100000"/>
              <a:buChar char="●"/>
            </a:pPr>
            <a:r>
              <a:rPr lang="en" sz="2375"/>
              <a:t>Future Improvements: </a:t>
            </a:r>
            <a:endParaRPr sz="1975"/>
          </a:p>
          <a:p>
            <a:pPr indent="-325782" lvl="1" marL="914400" rtl="0" algn="l">
              <a:spcBef>
                <a:spcPts val="0"/>
              </a:spcBef>
              <a:spcAft>
                <a:spcPts val="0"/>
              </a:spcAft>
              <a:buSzPct val="100000"/>
              <a:buChar char="○"/>
            </a:pPr>
            <a:r>
              <a:rPr lang="en" sz="1975"/>
              <a:t>Add validation missing columns</a:t>
            </a:r>
            <a:endParaRPr sz="1975"/>
          </a:p>
          <a:p>
            <a:pPr indent="-325782" lvl="1" marL="914400" rtl="0" algn="l">
              <a:spcBef>
                <a:spcPts val="0"/>
              </a:spcBef>
              <a:spcAft>
                <a:spcPts val="0"/>
              </a:spcAft>
              <a:buSzPct val="100000"/>
              <a:buChar char="○"/>
            </a:pPr>
            <a:r>
              <a:rPr lang="en" sz="1975"/>
              <a:t>Support arithmetic expressions, *, and AS in the SELECT clause</a:t>
            </a:r>
            <a:endParaRPr sz="1975"/>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